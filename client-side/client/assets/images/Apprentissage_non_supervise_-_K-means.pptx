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4" r:id="rId11"/>
    <p:sldId id="277" r:id="rId12"/>
    <p:sldId id="265" r:id="rId13"/>
    <p:sldId id="278" r:id="rId14"/>
    <p:sldId id="266" r:id="rId15"/>
    <p:sldId id="269" r:id="rId16"/>
    <p:sldId id="270" r:id="rId17"/>
    <p:sldId id="279" r:id="rId18"/>
    <p:sldId id="271" r:id="rId19"/>
    <p:sldId id="280" r:id="rId20"/>
    <p:sldId id="281" r:id="rId21"/>
    <p:sldId id="282" r:id="rId22"/>
    <p:sldId id="272" r:id="rId23"/>
    <p:sldId id="273" r:id="rId24"/>
    <p:sldId id="283" r:id="rId25"/>
    <p:sldId id="274" r:id="rId26"/>
    <p:sldId id="275" r:id="rId27"/>
    <p:sldId id="276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B55AF6-02A3-4BAB-AE79-C95C307BB31C}">
          <p14:sldIdLst>
            <p14:sldId id="256"/>
            <p14:sldId id="257"/>
            <p14:sldId id="258"/>
          </p14:sldIdLst>
        </p14:section>
        <p14:section name="Unsupervised Learning" id="{D5F8CD49-9A44-4AEC-AF9E-36938378856A}">
          <p14:sldIdLst>
            <p14:sldId id="259"/>
            <p14:sldId id="260"/>
          </p14:sldIdLst>
        </p14:section>
        <p14:section name="Clustering" id="{3B6EFFB3-525C-4699-8E20-AE72EEF43A69}">
          <p14:sldIdLst>
            <p14:sldId id="261"/>
            <p14:sldId id="262"/>
            <p14:sldId id="267"/>
            <p14:sldId id="268"/>
          </p14:sldIdLst>
        </p14:section>
        <p14:section name="K-Means" id="{33217C14-57BE-470E-B5D2-C71AB16DB711}">
          <p14:sldIdLst>
            <p14:sldId id="264"/>
            <p14:sldId id="277"/>
            <p14:sldId id="265"/>
            <p14:sldId id="278"/>
            <p14:sldId id="266"/>
            <p14:sldId id="269"/>
            <p14:sldId id="270"/>
            <p14:sldId id="279"/>
            <p14:sldId id="271"/>
            <p14:sldId id="280"/>
            <p14:sldId id="281"/>
            <p14:sldId id="282"/>
            <p14:sldId id="272"/>
            <p14:sldId id="273"/>
            <p14:sldId id="283"/>
            <p14:sldId id="274"/>
            <p14:sldId id="275"/>
            <p14:sldId id="27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5A2E75-A461-4F61-B95D-126543056B82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2ED3A-DD0E-4FA6-8E84-29846A90B51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201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2ED3A-DD0E-4FA6-8E84-29846A90B51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5699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D6D8C-6CC3-0793-0E7F-57A712C68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73ED28-2F0B-B420-AE28-4A4FC968DB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E7B18-5532-E32D-5A1B-346E1AEA2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A07-3AC4-4837-A69A-19D0E9F51381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D0500-B0CD-596F-738D-5026F22C3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AE823-498B-E49E-F2ED-0CD02B418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13E6-50C2-492C-B397-87CACC46759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4707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DE970-0D1E-DA87-9A20-A79DEAD8D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A111B-3CB2-F692-BE6B-379A2B5AC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06B36-B16D-541D-023A-2FBA848EB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A07-3AC4-4837-A69A-19D0E9F51381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1CC71-ADB4-9526-9BA3-826331882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8168F-1ED4-4639-4C15-47C40BEC5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13E6-50C2-492C-B397-87CACC46759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62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38EB0-F0F1-5108-B510-4EB057F05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7CBFA-24C8-B199-E1D9-23DB70A80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29B9C-3B55-EB22-F9DA-6140D8AE5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A07-3AC4-4837-A69A-19D0E9F51381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31DF8-2FCB-9893-A5CE-1D1FD2BB1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ECDFE-9434-40E8-670F-8DDB3EB8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13E6-50C2-492C-B397-87CACC46759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5501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9251E-4070-EF93-A16A-F5807B866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623D9-E267-6EBB-CE4B-646BCD667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9A32B-3F37-296A-71D8-70042FF6A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6809F-7727-DB30-7EFE-2F4C0E889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A07-3AC4-4837-A69A-19D0E9F51381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AE2F1F-FFC1-D600-E141-1AB0076D8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F84A5-1499-73CE-313B-70CD2E83F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13E6-50C2-492C-B397-87CACC46759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8724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8550F-2C99-175D-17D8-3F5D10A56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D8D22-FE9B-FC83-8900-B6A0E577D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19DE0-DA82-28D8-545E-70AAE1404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BBD2D2-6A8A-8E05-26E2-DC7351FBB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01F7C6-CBAD-3EC7-D6E5-FC7415E3A8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E7ADA0-FEFA-C949-1D1D-5E615F9FB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A07-3AC4-4837-A69A-19D0E9F51381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F3C6DE-1D5E-CD27-01F5-B9698AD95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3D57EC-2A4F-162A-84B9-B003D3C1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13E6-50C2-492C-B397-87CACC46759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4224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C131A-FBB0-7C45-FA43-3F7984BC8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C78F6D-DEF6-46D4-3E40-BB93379C0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A07-3AC4-4837-A69A-19D0E9F51381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72F57-AC9E-3813-1883-B5CC71840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727F3-E37D-36F7-C872-0E9B8E3A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13E6-50C2-492C-B397-87CACC46759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3444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BAB097-B425-FC09-FE6A-7AE08D237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A07-3AC4-4837-A69A-19D0E9F51381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1EA2E5-8E68-7BE7-3889-893877005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CC133-7EFA-76A6-1D87-D16EE2E83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13E6-50C2-492C-B397-87CACC46759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9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4A3DD-BA71-925F-3457-11D664C82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4568-C500-1DFC-EE1E-0F019CCF3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760FC-E94A-A705-50A4-AEC209187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A9C9B-99E2-C211-BB0C-DD5529066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A07-3AC4-4837-A69A-19D0E9F51381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FD7A2-5F4A-9BE1-0F44-5229CD89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EF32F-C0D0-47E6-6610-AF933125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13E6-50C2-492C-B397-87CACC46759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07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0C9B1-F431-0544-0F06-1B2B50955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AE0811-739F-84AB-BC90-8E64EE1E8D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1C5D2B-A736-44AC-64B3-64820B68F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45638-CC84-95D0-52C2-22D1DA8DA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A07-3AC4-4837-A69A-19D0E9F51381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6D45E-EC11-E03F-E88E-26E7B897F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81393-3824-7302-9D43-EB44E6223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13E6-50C2-492C-B397-87CACC46759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581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89540-AD36-1926-DE9D-3ED0293F5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4E8EE-D285-2742-91DF-ABED0EE93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27C18-BF98-B0C6-4A43-DCB2B422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A07-3AC4-4837-A69A-19D0E9F51381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7784C-97C4-E0B8-77B7-D9824682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37A16-4438-7601-5243-86B4AA3C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13E6-50C2-492C-B397-87CACC46759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007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268813-CC00-73BB-A5C3-AFB01EA73D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43C27D-BC39-629C-7DB4-08AB69F11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57FE1-4BD6-D040-54AC-4B436895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A07-3AC4-4837-A69A-19D0E9F51381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32311-1807-C88F-6452-C06DF5A3C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DE137-28E7-DDBF-9097-D14606C67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13E6-50C2-492C-B397-87CACC46759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5772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8E745C-FA74-3565-C059-0898F0591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1A643-F344-A5C6-7AAD-9914B9AD1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4ECCC-AF11-ADD4-71CB-E24A33201B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3FA07-3AC4-4837-A69A-19D0E9F51381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B9443-30BF-DB56-0E1C-C57E5BBA8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C50CC-C034-84EB-38EC-3FEC04D1A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613E6-50C2-492C-B397-87CACC46759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3689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279C3-2C52-B9ED-0073-CBA0A37CF6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Clustering with K-means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154494-5C78-72D0-E988-66A70D7C20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Introduction to 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4070225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8BDB6-2594-9C4B-E40E-F5CE170BB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171CC-20C8-05A1-24A1-7807491EF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Unsupervised Learning</a:t>
            </a:r>
          </a:p>
          <a:p>
            <a:r>
              <a:rPr lang="en-US" noProof="0" dirty="0"/>
              <a:t>Clustering</a:t>
            </a:r>
          </a:p>
          <a:p>
            <a:r>
              <a:rPr lang="en-US" noProof="0" dirty="0"/>
              <a:t>K-Means algorithm</a:t>
            </a:r>
          </a:p>
          <a:p>
            <a:r>
              <a:rPr lang="en-US" noProof="0" dirty="0"/>
              <a:t>Calculating similarities</a:t>
            </a:r>
          </a:p>
          <a:p>
            <a:r>
              <a:rPr lang="en-US" noProof="0" dirty="0"/>
              <a:t>Choosing the right value of K</a:t>
            </a:r>
          </a:p>
          <a:p>
            <a:r>
              <a:rPr lang="en-US" noProof="0" dirty="0"/>
              <a:t>Application of K-means</a:t>
            </a:r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0072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0998D-CBD6-936A-0101-7079FD688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3EE26-146E-D683-7A73-997ABF10E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166A0-4774-39B4-772A-65BE9AE62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Introducing Unsupervised Learning</a:t>
            </a:r>
          </a:p>
          <a:p>
            <a:r>
              <a:rPr lang="en-US" noProof="0" dirty="0"/>
              <a:t>Importance of clustering</a:t>
            </a:r>
          </a:p>
          <a:p>
            <a:r>
              <a:rPr lang="en-US" noProof="0" dirty="0"/>
              <a:t>Understanding K-means Algorithm</a:t>
            </a:r>
          </a:p>
        </p:txBody>
      </p:sp>
    </p:spTree>
    <p:extLst>
      <p:ext uri="{BB962C8B-B14F-4D97-AF65-F5344CB8AC3E}">
        <p14:creationId xmlns:p14="http://schemas.microsoft.com/office/powerpoint/2010/main" val="1850825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26ED8-A0AD-7DF4-E1E6-E61A53C46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E39E1-45C8-C0FE-B13A-9CBB66B8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Unsupervised Learning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6600A0-49F1-391D-7BF8-7C758ABC9DED}"/>
              </a:ext>
            </a:extLst>
          </p:cNvPr>
          <p:cNvSpPr/>
          <p:nvPr/>
        </p:nvSpPr>
        <p:spPr>
          <a:xfrm>
            <a:off x="4264789" y="1690688"/>
            <a:ext cx="3513398" cy="1214558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Unsupervised Learning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B7E1695-4013-1B19-7D7C-ECDEAC33388A}"/>
              </a:ext>
            </a:extLst>
          </p:cNvPr>
          <p:cNvSpPr/>
          <p:nvPr/>
        </p:nvSpPr>
        <p:spPr>
          <a:xfrm>
            <a:off x="4264789" y="3952755"/>
            <a:ext cx="3513398" cy="121455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Dimensionality Reduction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F7AFC99-AB96-ECED-CD44-0BB726D7021D}"/>
              </a:ext>
            </a:extLst>
          </p:cNvPr>
          <p:cNvSpPr/>
          <p:nvPr/>
        </p:nvSpPr>
        <p:spPr>
          <a:xfrm>
            <a:off x="294673" y="3952755"/>
            <a:ext cx="3513398" cy="121455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Clustering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36DE1AD-2847-5465-87DC-2EC6F1DD2250}"/>
              </a:ext>
            </a:extLst>
          </p:cNvPr>
          <p:cNvSpPr/>
          <p:nvPr/>
        </p:nvSpPr>
        <p:spPr>
          <a:xfrm>
            <a:off x="8234905" y="3952755"/>
            <a:ext cx="3513398" cy="1214558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Anomaly Detection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95CB804-F2B3-25B4-0AA9-DF0DED038F7B}"/>
              </a:ext>
            </a:extLst>
          </p:cNvPr>
          <p:cNvCxnSpPr>
            <a:stCxn id="4" idx="4"/>
            <a:endCxn id="6" idx="0"/>
          </p:cNvCxnSpPr>
          <p:nvPr/>
        </p:nvCxnSpPr>
        <p:spPr>
          <a:xfrm flipH="1">
            <a:off x="2051372" y="2905246"/>
            <a:ext cx="3970116" cy="1047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BC497E-8E06-0C39-257F-D9FE3B7B5774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6021488" y="2905246"/>
            <a:ext cx="0" cy="1047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E16D84-39F8-3552-E3A8-A44B9DB6F15A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>
            <a:off x="6021488" y="2905246"/>
            <a:ext cx="3970116" cy="1047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328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B8D3A-96CC-3800-7A1A-58A7A938C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192F2-4F5B-4FEE-51D3-D57BF68A7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76A01-797E-A4A0-F6F8-AE9014D1D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is not labeled</a:t>
            </a:r>
          </a:p>
          <a:p>
            <a:endParaRPr lang="en-US" noProof="0" dirty="0"/>
          </a:p>
          <a:p>
            <a:r>
              <a:rPr lang="en-US" dirty="0"/>
              <a:t>We can’t train models in a supervised learning manner (no </a:t>
            </a:r>
            <a:r>
              <a:rPr lang="en-US" dirty="0" err="1"/>
              <a:t>desited</a:t>
            </a:r>
            <a:r>
              <a:rPr lang="en-US" dirty="0"/>
              <a:t> output)</a:t>
            </a:r>
          </a:p>
          <a:p>
            <a:endParaRPr lang="en-US" noProof="0" dirty="0"/>
          </a:p>
          <a:p>
            <a:r>
              <a:rPr lang="en-US" dirty="0"/>
              <a:t>We have to find similarities into data 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4080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C6C37-E62D-6D1C-4EE4-FF480F1B7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9F04A-AB9C-C832-53FA-D54501F48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840BE-A2AE-321D-8C45-8C16C11C1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Groups similar data points into clusters (families).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Each cluster contains similar individuals.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Different clusters contain dissimilar individuals.</a:t>
            </a:r>
          </a:p>
        </p:txBody>
      </p:sp>
    </p:spTree>
    <p:extLst>
      <p:ext uri="{BB962C8B-B14F-4D97-AF65-F5344CB8AC3E}">
        <p14:creationId xmlns:p14="http://schemas.microsoft.com/office/powerpoint/2010/main" val="2810133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A6CF9-73B5-9706-B917-4DC194A3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F775E-D23E-AD81-ACE5-53E264D7E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747"/>
            <a:ext cx="10515600" cy="982909"/>
          </a:xfrm>
        </p:spPr>
        <p:txBody>
          <a:bodyPr/>
          <a:lstStyle/>
          <a:p>
            <a:r>
              <a:rPr lang="en-US" noProof="0" dirty="0"/>
              <a:t>What is clustering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6580C7-4C20-AA18-86AC-0D3B45A971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172" y="1461706"/>
            <a:ext cx="6186463" cy="484263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8F7737-D0C3-42A4-0792-4E3E6C010393}"/>
              </a:ext>
            </a:extLst>
          </p:cNvPr>
          <p:cNvSpPr txBox="1"/>
          <p:nvPr/>
        </p:nvSpPr>
        <p:spPr>
          <a:xfrm>
            <a:off x="438285" y="1292020"/>
            <a:ext cx="509990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noProof="0" dirty="0">
                <a:latin typeface="Calibri (Body)"/>
              </a:rPr>
              <a:t>The number of clusters depends on the data</a:t>
            </a:r>
          </a:p>
          <a:p>
            <a:endParaRPr lang="en-US" sz="2200" noProof="0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noProof="0" dirty="0">
                <a:latin typeface="Calibri (Body)"/>
              </a:rPr>
              <a:t>The number of clusters depends also from the clustering algorithm </a:t>
            </a:r>
            <a:r>
              <a:rPr lang="en-US" sz="2200" b="1" noProof="0" dirty="0">
                <a:solidFill>
                  <a:schemeClr val="accent1"/>
                </a:solidFill>
                <a:latin typeface="Calibri (Body)"/>
              </a:rPr>
              <a:t>hyper-parameters</a:t>
            </a:r>
          </a:p>
          <a:p>
            <a:endParaRPr lang="en-US" sz="2200" noProof="0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noProof="0" dirty="0">
                <a:latin typeface="Calibri (Body)"/>
              </a:rPr>
              <a:t>Clustering  groups observations of a dataset into </a:t>
            </a:r>
            <a:r>
              <a:rPr lang="en-US" sz="2200" b="1" noProof="0" dirty="0">
                <a:solidFill>
                  <a:schemeClr val="accent1"/>
                </a:solidFill>
                <a:latin typeface="Calibri (Body)"/>
              </a:rPr>
              <a:t>distinct clusters</a:t>
            </a:r>
            <a:r>
              <a:rPr lang="en-US" sz="2200" noProof="0" dirty="0">
                <a:latin typeface="Calibri (Body)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noProof="0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noProof="0" dirty="0">
                <a:latin typeface="Calibri (Body)"/>
              </a:rPr>
              <a:t>Each observation belongs to </a:t>
            </a:r>
            <a:r>
              <a:rPr lang="en-US" sz="2200" b="1" noProof="0" dirty="0">
                <a:solidFill>
                  <a:schemeClr val="accent1"/>
                </a:solidFill>
                <a:latin typeface="Calibri (Body)"/>
              </a:rPr>
              <a:t>only one cluster</a:t>
            </a:r>
            <a:r>
              <a:rPr lang="en-US" sz="2200" noProof="0" dirty="0">
                <a:latin typeface="Calibri (Body)"/>
              </a:rPr>
              <a:t> (mutual exclusivity).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noProof="0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noProof="0" dirty="0">
                <a:latin typeface="Calibri (Body)"/>
              </a:rPr>
              <a:t>Therefore, the same observation </a:t>
            </a:r>
            <a:r>
              <a:rPr lang="en-US" sz="2200" b="1" noProof="0" dirty="0">
                <a:solidFill>
                  <a:schemeClr val="accent1"/>
                </a:solidFill>
                <a:latin typeface="Calibri (Body)"/>
              </a:rPr>
              <a:t>cannot belong to multiple clusters</a:t>
            </a:r>
            <a:r>
              <a:rPr lang="en-US" sz="2200" noProof="0" dirty="0">
                <a:latin typeface="Calibri (Body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3534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3F447-F921-957C-3252-C87DB1099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370"/>
            <a:ext cx="10515600" cy="918242"/>
          </a:xfrm>
        </p:spPr>
        <p:txBody>
          <a:bodyPr/>
          <a:lstStyle/>
          <a:p>
            <a:r>
              <a:rPr lang="en-US" noProof="0" dirty="0"/>
              <a:t>Importance of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7A076-3F12-F0E5-5205-371F546BD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US" noProof="0" dirty="0"/>
              <a:t>Used by Amazon, YouTube, Netflix for recommendations.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Enables personalization and segmentation.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Drives data-driven business strategies.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5366A9-B24B-448F-46EE-DEC3EA627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2252" y="4699028"/>
            <a:ext cx="2957167" cy="9936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BAEE98-0A3B-DCDA-7093-B09C99C97F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" t="28140" r="-858" b="30129"/>
          <a:stretch>
            <a:fillRect/>
          </a:stretch>
        </p:blipFill>
        <p:spPr>
          <a:xfrm>
            <a:off x="4738469" y="4403558"/>
            <a:ext cx="2715061" cy="11330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0952AE-1406-844F-3422-5EA9FCA260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25" t="28790" r="13768" b="26385"/>
          <a:stretch>
            <a:fillRect/>
          </a:stretch>
        </p:blipFill>
        <p:spPr>
          <a:xfrm>
            <a:off x="992581" y="4403558"/>
            <a:ext cx="2991919" cy="118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75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887CE-2CC5-0F4F-9FE5-7580D59AD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538"/>
            <a:ext cx="10515600" cy="1014496"/>
          </a:xfrm>
        </p:spPr>
        <p:txBody>
          <a:bodyPr/>
          <a:lstStyle/>
          <a:p>
            <a:r>
              <a:rPr lang="en-US" noProof="0" dirty="0"/>
              <a:t>Recommendation systems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4FC9B7-40E5-82F2-E165-1FA48B1B1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203" y="1120758"/>
            <a:ext cx="5448281" cy="38527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4F13EA-5D5B-7759-AF88-1CFFA96F0FC3}"/>
              </a:ext>
            </a:extLst>
          </p:cNvPr>
          <p:cNvSpPr txBox="1"/>
          <p:nvPr/>
        </p:nvSpPr>
        <p:spPr>
          <a:xfrm>
            <a:off x="409936" y="1539433"/>
            <a:ext cx="676636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noProof="0" dirty="0"/>
              <a:t>Clustering plays a major role in recommendation systems</a:t>
            </a:r>
          </a:p>
          <a:p>
            <a:endParaRPr lang="en-US" sz="2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noProof="0" dirty="0"/>
              <a:t>Clustering allows to understand the data, finding profiles and groups</a:t>
            </a:r>
          </a:p>
          <a:p>
            <a:endParaRPr lang="en-US" sz="2600" noProof="0" dirty="0"/>
          </a:p>
          <a:p>
            <a:endParaRPr lang="en-US" sz="2600" noProof="0" dirty="0"/>
          </a:p>
          <a:p>
            <a:r>
              <a:rPr lang="en-US" sz="2600" noProof="0" dirty="0">
                <a:sym typeface="Wingdings" panose="05000000000000000000" pitchFamily="2" charset="2"/>
              </a:rPr>
              <a:t> </a:t>
            </a:r>
            <a:r>
              <a:rPr lang="en-US" sz="2600" b="1" noProof="0" dirty="0">
                <a:solidFill>
                  <a:srgbClr val="FF0000"/>
                </a:solidFill>
                <a:sym typeface="Wingdings" panose="05000000000000000000" pitchFamily="2" charset="2"/>
              </a:rPr>
              <a:t>This brings business values and allows to make profits using ads</a:t>
            </a:r>
            <a:endParaRPr lang="en-US" sz="2600" b="1" noProof="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noProof="0" dirty="0"/>
          </a:p>
        </p:txBody>
      </p:sp>
    </p:spTree>
    <p:extLst>
      <p:ext uri="{BB962C8B-B14F-4D97-AF65-F5344CB8AC3E}">
        <p14:creationId xmlns:p14="http://schemas.microsoft.com/office/powerpoint/2010/main" val="3623217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DEC3D-EE41-1C43-033D-0B00527DE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82" y="226992"/>
            <a:ext cx="10515600" cy="908090"/>
          </a:xfrm>
        </p:spPr>
        <p:txBody>
          <a:bodyPr/>
          <a:lstStyle/>
          <a:p>
            <a:r>
              <a:rPr lang="en-US" noProof="0" dirty="0"/>
              <a:t>What is K-Means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C2216-E1EA-6B50-488C-7AB158644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16" y="1599525"/>
            <a:ext cx="6801092" cy="3658950"/>
          </a:xfrm>
        </p:spPr>
        <p:txBody>
          <a:bodyPr/>
          <a:lstStyle/>
          <a:p>
            <a:r>
              <a:rPr lang="en-US" noProof="0" dirty="0"/>
              <a:t>Popular unsupervised clustering algorithm.</a:t>
            </a:r>
          </a:p>
          <a:p>
            <a:endParaRPr lang="en-US" noProof="0" dirty="0"/>
          </a:p>
          <a:p>
            <a:r>
              <a:rPr lang="en-US" noProof="0" dirty="0"/>
              <a:t>Groups data into K distinct clusters.</a:t>
            </a:r>
          </a:p>
          <a:p>
            <a:endParaRPr lang="en-US" noProof="0" dirty="0"/>
          </a:p>
          <a:p>
            <a:r>
              <a:rPr lang="en-US" noProof="0" dirty="0"/>
              <a:t>Each observation belongs to one cluster only (exclusive membership).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7E0FE2-D606-6353-FF0C-50F3E8689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50"/>
          <a:stretch>
            <a:fillRect/>
          </a:stretch>
        </p:blipFill>
        <p:spPr>
          <a:xfrm>
            <a:off x="6547415" y="1135082"/>
            <a:ext cx="5644586" cy="444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03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CC17-9336-88CE-663A-B23ABF428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5964"/>
          </a:xfrm>
        </p:spPr>
        <p:txBody>
          <a:bodyPr/>
          <a:lstStyle/>
          <a:p>
            <a:r>
              <a:rPr lang="en-US" noProof="0" dirty="0"/>
              <a:t>What is K-Means 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A97CE7-5E7F-A133-35E6-D0D59BF393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572" y="2141536"/>
            <a:ext cx="9120856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5A7C16-CAD5-66FD-4BD1-3F0A354026F1}"/>
              </a:ext>
            </a:extLst>
          </p:cNvPr>
          <p:cNvSpPr txBox="1"/>
          <p:nvPr/>
        </p:nvSpPr>
        <p:spPr>
          <a:xfrm>
            <a:off x="937550" y="1437597"/>
            <a:ext cx="8322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/>
              <a:t>Here K-Means algorithm with K=3 is trained</a:t>
            </a:r>
          </a:p>
        </p:txBody>
      </p:sp>
    </p:spTree>
    <p:extLst>
      <p:ext uri="{BB962C8B-B14F-4D97-AF65-F5344CB8AC3E}">
        <p14:creationId xmlns:p14="http://schemas.microsoft.com/office/powerpoint/2010/main" val="1498533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55F28-62BD-0C38-FE44-3D940A8AA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76AC4-A5A1-C009-8726-0E6B1965C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</p:spPr>
        <p:txBody>
          <a:bodyPr/>
          <a:lstStyle/>
          <a:p>
            <a:r>
              <a:rPr lang="en-US" noProof="0" dirty="0"/>
              <a:t>Principles of 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E66FC-CA3E-8E61-C84E-82FE44521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Randomly initialize K centroids.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Assign each data point to the nearest centroid.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Recompute centroids as the mean of their cluster.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Repeat until centroids stop moving (convergence).</a:t>
            </a:r>
          </a:p>
        </p:txBody>
      </p:sp>
    </p:spTree>
    <p:extLst>
      <p:ext uri="{BB962C8B-B14F-4D97-AF65-F5344CB8AC3E}">
        <p14:creationId xmlns:p14="http://schemas.microsoft.com/office/powerpoint/2010/main" val="473330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7118-3C1B-9CC9-8465-165DD8B7E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756"/>
            <a:ext cx="10515600" cy="850217"/>
          </a:xfrm>
        </p:spPr>
        <p:txBody>
          <a:bodyPr/>
          <a:lstStyle/>
          <a:p>
            <a:r>
              <a:rPr lang="en-US" noProof="0" dirty="0"/>
              <a:t>Principles of K-Means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5841D-E6EF-134C-EB7D-A2A999BC7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94" t="10001" r="9254" b="8571"/>
          <a:stretch>
            <a:fillRect/>
          </a:stretch>
        </p:blipFill>
        <p:spPr>
          <a:xfrm>
            <a:off x="5787345" y="1250066"/>
            <a:ext cx="6169307" cy="46182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86877E-2AB6-E440-37AD-F872554F74C0}"/>
              </a:ext>
            </a:extLst>
          </p:cNvPr>
          <p:cNvSpPr txBox="1"/>
          <p:nvPr/>
        </p:nvSpPr>
        <p:spPr>
          <a:xfrm>
            <a:off x="235348" y="1666755"/>
            <a:ext cx="540537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noProof="0" dirty="0"/>
              <a:t>After fixing the number of cluster (4 in this case)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noProof="0" dirty="0"/>
              <a:t>The centroids (center of the clusters) is recalculated at each iteration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noProof="0" dirty="0"/>
              <a:t>The algorithm stops after converging (the centroids don’t change anymore)</a:t>
            </a:r>
          </a:p>
        </p:txBody>
      </p:sp>
    </p:spTree>
    <p:extLst>
      <p:ext uri="{BB962C8B-B14F-4D97-AF65-F5344CB8AC3E}">
        <p14:creationId xmlns:p14="http://schemas.microsoft.com/office/powerpoint/2010/main" val="1385862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AF815-94BB-49AB-5BCD-963F50EF9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FBC0F-BD67-D65A-FBFD-7A6EAA9BE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504"/>
            <a:ext cx="10515600" cy="908091"/>
          </a:xfrm>
        </p:spPr>
        <p:txBody>
          <a:bodyPr/>
          <a:lstStyle/>
          <a:p>
            <a:r>
              <a:rPr lang="en-US" noProof="0" dirty="0"/>
              <a:t>Similarity between 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78B37-F7E8-8862-DF76-74B43016E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9" y="1534297"/>
            <a:ext cx="6268655" cy="4646583"/>
          </a:xfrm>
        </p:spPr>
        <p:txBody>
          <a:bodyPr>
            <a:normAutofit lnSpcReduction="10000"/>
          </a:bodyPr>
          <a:lstStyle/>
          <a:p>
            <a:r>
              <a:rPr lang="en-US" noProof="0" dirty="0"/>
              <a:t>K-Means relies on distance measures to determine similarity.</a:t>
            </a:r>
          </a:p>
          <a:p>
            <a:endParaRPr lang="en-US" noProof="0" dirty="0"/>
          </a:p>
          <a:p>
            <a:r>
              <a:rPr lang="en-US" noProof="0" dirty="0"/>
              <a:t>Close points → small distance → same cluster.</a:t>
            </a:r>
          </a:p>
          <a:p>
            <a:endParaRPr lang="en-US" noProof="0" dirty="0"/>
          </a:p>
          <a:p>
            <a:r>
              <a:rPr lang="en-US" noProof="0" dirty="0"/>
              <a:t>Far points → large distance → different clusters.</a:t>
            </a:r>
          </a:p>
          <a:p>
            <a:endParaRPr lang="en-US" noProof="0" dirty="0"/>
          </a:p>
          <a:p>
            <a:r>
              <a:rPr lang="en-US" noProof="0" dirty="0"/>
              <a:t>The distance is calculated using the features of each sample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92A363-C15F-3F22-4122-96A047761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0" r="30393"/>
          <a:stretch>
            <a:fillRect/>
          </a:stretch>
        </p:blipFill>
        <p:spPr>
          <a:xfrm>
            <a:off x="6570562" y="1464198"/>
            <a:ext cx="5278056" cy="392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383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CFB9F-8397-553B-C264-0ABE9637B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356"/>
            <a:ext cx="10515600" cy="931240"/>
          </a:xfrm>
        </p:spPr>
        <p:txBody>
          <a:bodyPr/>
          <a:lstStyle/>
          <a:p>
            <a:r>
              <a:rPr lang="en-US" noProof="0" dirty="0"/>
              <a:t>Distance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D6652-4193-5156-FF54-98D4C544F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656492"/>
          </a:xfrm>
        </p:spPr>
        <p:txBody>
          <a:bodyPr/>
          <a:lstStyle/>
          <a:p>
            <a:pPr marL="0" indent="0">
              <a:buNone/>
            </a:pPr>
            <a:r>
              <a:rPr lang="en-US" b="1" noProof="0" dirty="0"/>
              <a:t>Euclidean Distance: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E43B2B-CE6D-E398-EFDF-0681186D2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135" y="1789118"/>
            <a:ext cx="5362856" cy="16398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2C1C4F-D4C4-E033-0827-D0F319E27CAE}"/>
              </a:ext>
            </a:extLst>
          </p:cNvPr>
          <p:cNvSpPr txBox="1"/>
          <p:nvPr/>
        </p:nvSpPr>
        <p:spPr>
          <a:xfrm>
            <a:off x="641429" y="3483978"/>
            <a:ext cx="1145411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noProof="0" dirty="0">
                <a:latin typeface="Calibri (Body)"/>
              </a:rPr>
              <a:t>Straight-line, Simple </a:t>
            </a:r>
            <a:r>
              <a:rPr lang="en-US" sz="2800" b="1" noProof="0" dirty="0">
                <a:solidFill>
                  <a:schemeClr val="accent1"/>
                </a:solidFill>
                <a:latin typeface="Calibri (Body)"/>
              </a:rPr>
              <a:t>geometric</a:t>
            </a:r>
            <a:r>
              <a:rPr lang="en-US" sz="2800" noProof="0" dirty="0">
                <a:latin typeface="Calibri (Body)"/>
              </a:rPr>
              <a:t> distance.</a:t>
            </a:r>
          </a:p>
          <a:p>
            <a:endParaRPr lang="en-US" sz="2800" noProof="0" dirty="0">
              <a:latin typeface="Calibri (Body)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0" lang="en-US" sz="280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Assumes clusters are spherical and equal-sized.</a:t>
            </a:r>
          </a:p>
          <a:p>
            <a:endParaRPr kumimoji="0" lang="en-US" sz="2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0" lang="en-US" sz="2800" b="1" i="0" u="none" strike="noStrike" cap="none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latin typeface="Calibri (Body)"/>
              </a:rPr>
              <a:t>Continuous numerical data </a:t>
            </a:r>
            <a:r>
              <a:rPr kumimoji="0" lang="en-US" sz="2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(e.g., height, weight, pixel values).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noProof="0" dirty="0">
              <a:latin typeface="Calibri (Body)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noProof="0" dirty="0">
                <a:solidFill>
                  <a:srgbClr val="FF0000"/>
                </a:solidFill>
              </a:rPr>
              <a:t>Sensitive to scale </a:t>
            </a:r>
            <a:r>
              <a:rPr lang="en-US" sz="2800" noProof="0" dirty="0"/>
              <a:t>→ data should be standardized (mean = 0, variance = 1).</a:t>
            </a:r>
            <a:endParaRPr kumimoji="0" lang="en-US" sz="2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4291126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44B09-EB6D-A374-784F-6635030ED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00" y="17884"/>
            <a:ext cx="10515600" cy="1325563"/>
          </a:xfrm>
        </p:spPr>
        <p:txBody>
          <a:bodyPr/>
          <a:lstStyle/>
          <a:p>
            <a:r>
              <a:rPr lang="en-US" noProof="0" dirty="0"/>
              <a:t>Distance Metrics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AC7AE6A-F338-C212-9D36-EF2FAE3F2787}"/>
              </a:ext>
            </a:extLst>
          </p:cNvPr>
          <p:cNvSpPr txBox="1">
            <a:spLocks/>
          </p:cNvSpPr>
          <p:nvPr/>
        </p:nvSpPr>
        <p:spPr>
          <a:xfrm>
            <a:off x="803474" y="1226803"/>
            <a:ext cx="10515600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noProof="0" dirty="0"/>
              <a:t>Manhattan Distance: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en-US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40F23A-B9D1-0B84-9A68-0F72CE231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652" y="2093084"/>
            <a:ext cx="5164242" cy="12141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611CE0-C70E-972E-7C95-A938084D0D21}"/>
              </a:ext>
            </a:extLst>
          </p:cNvPr>
          <p:cNvSpPr txBox="1"/>
          <p:nvPr/>
        </p:nvSpPr>
        <p:spPr>
          <a:xfrm>
            <a:off x="259462" y="3399137"/>
            <a:ext cx="76956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noProof="0" dirty="0">
                <a:solidFill>
                  <a:schemeClr val="accent1"/>
                </a:solidFill>
              </a:rPr>
              <a:t>Taxi cab </a:t>
            </a:r>
            <a:r>
              <a:rPr lang="en-US" sz="2800" noProof="0" dirty="0"/>
              <a:t>distance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noProof="0" dirty="0"/>
              <a:t>Simple geometric distance.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noProof="0" dirty="0"/>
              <a:t>Data with features on different scales or sparse features (like text counts).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noProof="0" dirty="0">
                <a:solidFill>
                  <a:schemeClr val="accent1"/>
                </a:solidFill>
              </a:rPr>
              <a:t>More robust to outliers</a:t>
            </a:r>
            <a:r>
              <a:rPr lang="en-US" sz="2800" noProof="0" dirty="0"/>
              <a:t> than Euclidean distance.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876893-6097-B0D2-D656-320FAFC06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280" y="2710530"/>
            <a:ext cx="4161553" cy="414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641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17D8A-4809-C1E1-2D18-08D55770E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7538"/>
          </a:xfrm>
        </p:spPr>
        <p:txBody>
          <a:bodyPr/>
          <a:lstStyle/>
          <a:p>
            <a:r>
              <a:rPr lang="en-US" noProof="0" dirty="0"/>
              <a:t>Distance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C22D5-396A-A4A5-9D13-0950557D1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Plenty of other distances: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Cosine Distance (</a:t>
            </a:r>
            <a:r>
              <a:rPr lang="en-US" b="1" noProof="0" dirty="0">
                <a:solidFill>
                  <a:schemeClr val="accent1"/>
                </a:solidFill>
              </a:rPr>
              <a:t>embedding, text data</a:t>
            </a:r>
            <a:r>
              <a:rPr lang="en-US" noProof="0" dirty="0"/>
              <a:t>)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 err="1"/>
              <a:t>Mahalanobis</a:t>
            </a:r>
            <a:r>
              <a:rPr lang="en-US" noProof="0" dirty="0"/>
              <a:t> Distance (</a:t>
            </a:r>
            <a:r>
              <a:rPr lang="en-US" b="1" noProof="0" dirty="0">
                <a:solidFill>
                  <a:schemeClr val="accent1"/>
                </a:solidFill>
              </a:rPr>
              <a:t>Takes into account feature correlations</a:t>
            </a:r>
            <a:r>
              <a:rPr lang="en-US" noProof="0" dirty="0"/>
              <a:t>)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Hamming Distance (</a:t>
            </a:r>
            <a:r>
              <a:rPr lang="en-US" b="1" noProof="0" dirty="0">
                <a:solidFill>
                  <a:schemeClr val="accent1"/>
                </a:solidFill>
              </a:rPr>
              <a:t>categorical data</a:t>
            </a:r>
            <a:r>
              <a:rPr lang="en-US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05593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8E35-AE44-AB72-AC35-205A5C204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33631"/>
            <a:ext cx="10515600" cy="757619"/>
          </a:xfrm>
        </p:spPr>
        <p:txBody>
          <a:bodyPr/>
          <a:lstStyle/>
          <a:p>
            <a:r>
              <a:rPr lang="en-US" noProof="0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48197-013E-ADD4-BB68-E7F984E17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2719"/>
            <a:ext cx="10515600" cy="57033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Select K (</a:t>
            </a:r>
            <a:r>
              <a:rPr lang="en-US" noProof="0" dirty="0" err="1"/>
              <a:t>i.e</a:t>
            </a:r>
            <a:r>
              <a:rPr lang="en-US" noProof="0" dirty="0"/>
              <a:t>: 2) random points as cluster centers called centroids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F9FE10-0CC3-7FB3-6499-B714ED0DA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417" y="2120162"/>
            <a:ext cx="7000859" cy="442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86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3B42D-4E9C-DD2E-DE2B-2F2EB67C5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84746-835F-E718-3AB9-2D58D95A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77" y="154691"/>
            <a:ext cx="10515600" cy="827067"/>
          </a:xfrm>
        </p:spPr>
        <p:txBody>
          <a:bodyPr/>
          <a:lstStyle/>
          <a:p>
            <a:r>
              <a:rPr lang="en-US" noProof="0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7EEB7-A455-89A8-8E04-B6F73A837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9017"/>
            <a:ext cx="10515600" cy="61663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noProof="0" dirty="0"/>
              <a:t>Assign each data point to the closes cluster by calculating its distance with respect to each centroid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14818-8F4F-42D4-F8A9-0DF899BA3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946" y="2233914"/>
            <a:ext cx="6663859" cy="403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536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87DA0-CC18-2C00-3F7B-0ADFA44D0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93ED1-74BF-0756-FC6C-497C4C5FB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54" y="203080"/>
            <a:ext cx="10515600" cy="58191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AB167-61D3-A3FF-09D5-3D5CBD375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1821"/>
            <a:ext cx="10515600" cy="58190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noProof="0" dirty="0"/>
              <a:t>Determine the new cluster center by computing the average of the assigned points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C2C1D8-C84A-55BF-E595-B3DB86F45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564" y="1960561"/>
            <a:ext cx="7687748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857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AAA1D-D950-2B5B-3ADA-D08FBF7DF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171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AC6AE-6EBD-3B9A-7227-54BF2CD10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603" y="1262665"/>
            <a:ext cx="10515600" cy="500886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Repeat steps 2 and 3 until none of the cluster assignments change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66DF05-61B0-2866-EEEE-1FCB7D999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639" y="2103416"/>
            <a:ext cx="6563641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985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03FC5-41DC-50A5-50F1-612BEFDF9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Choosing the right number of clusters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12DEE-4012-CA87-7945-9550945C6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>
                <a:solidFill>
                  <a:schemeClr val="accent1"/>
                </a:solidFill>
              </a:rPr>
              <a:t>No fixed rule </a:t>
            </a:r>
            <a:r>
              <a:rPr lang="en-US" noProof="0" dirty="0"/>
              <a:t>for choosing K.</a:t>
            </a:r>
          </a:p>
          <a:p>
            <a:endParaRPr lang="en-US" noProof="0" dirty="0"/>
          </a:p>
          <a:p>
            <a:r>
              <a:rPr lang="en-US" noProof="0" dirty="0"/>
              <a:t>Too small K → clusters too broad, </a:t>
            </a:r>
            <a:r>
              <a:rPr lang="en-US" b="1" noProof="0" dirty="0">
                <a:solidFill>
                  <a:schemeClr val="accent1"/>
                </a:solidFill>
              </a:rPr>
              <a:t>lose detail.</a:t>
            </a:r>
          </a:p>
          <a:p>
            <a:endParaRPr lang="en-US" noProof="0" dirty="0"/>
          </a:p>
          <a:p>
            <a:r>
              <a:rPr lang="en-US" noProof="0" dirty="0"/>
              <a:t>Too large K → fragmented clusters</a:t>
            </a:r>
            <a:r>
              <a:rPr lang="en-US" b="1" noProof="0" dirty="0">
                <a:solidFill>
                  <a:schemeClr val="accent1"/>
                </a:solidFill>
              </a:rPr>
              <a:t>, lose meaning</a:t>
            </a:r>
            <a:r>
              <a:rPr lang="en-US" noProof="0" dirty="0"/>
              <a:t>.</a:t>
            </a:r>
          </a:p>
          <a:p>
            <a:endParaRPr lang="en-US" noProof="0" dirty="0"/>
          </a:p>
          <a:p>
            <a:r>
              <a:rPr lang="en-US" noProof="0" dirty="0"/>
              <a:t>Need to balance </a:t>
            </a:r>
            <a:r>
              <a:rPr lang="en-US" b="1" noProof="0" dirty="0">
                <a:solidFill>
                  <a:schemeClr val="accent1"/>
                </a:solidFill>
              </a:rPr>
              <a:t>generalization and specificity</a:t>
            </a:r>
            <a:r>
              <a:rPr lang="en-U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8405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E7AA9-3E5D-9D45-259D-1F98FCD58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Elbow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DD95C-B62A-3A8D-6191-005420C95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Run K-Means with several K values.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Compute within-cluster variance (inertia) for each K.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Plot K vs variance.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“Elbow point” = optimal number of clusters.</a:t>
            </a:r>
          </a:p>
        </p:txBody>
      </p:sp>
    </p:spTree>
    <p:extLst>
      <p:ext uri="{BB962C8B-B14F-4D97-AF65-F5344CB8AC3E}">
        <p14:creationId xmlns:p14="http://schemas.microsoft.com/office/powerpoint/2010/main" val="26461687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809AA-56BF-FF76-14D1-E258EC46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3794-2454-A072-43A5-19DE0EEA4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206"/>
            <a:ext cx="10515600" cy="850217"/>
          </a:xfrm>
        </p:spPr>
        <p:txBody>
          <a:bodyPr/>
          <a:lstStyle/>
          <a:p>
            <a:r>
              <a:rPr lang="en-US" noProof="0" dirty="0"/>
              <a:t>Elbow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A12B96E-88C8-D1E3-6AFB-42CBDDF87B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15398"/>
                <a:ext cx="10515600" cy="569739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noProof="0" dirty="0"/>
                  <a:t>For each possible number of clusters </a:t>
                </a:r>
                <a14:m>
                  <m:oMath xmlns:m="http://schemas.openxmlformats.org/officeDocument/2006/math">
                    <m:r>
                      <a:rPr lang="en-US" i="1" noProof="0"/>
                      <m:t>𝐾</m:t>
                    </m:r>
                  </m:oMath>
                </a14:m>
                <a:r>
                  <a:rPr lang="en-US" noProof="0" dirty="0"/>
                  <a:t>:</a:t>
                </a:r>
              </a:p>
              <a:p>
                <a:pPr marL="0" indent="0">
                  <a:buNone/>
                </a:pPr>
                <a:r>
                  <a:rPr lang="en-US" noProof="0" dirty="0"/>
                  <a:t>1- Run the K-Means algorithm.</a:t>
                </a:r>
              </a:p>
              <a:p>
                <a:pPr marL="0" indent="0">
                  <a:buNone/>
                </a:pPr>
                <a:r>
                  <a:rPr lang="en-US" noProof="0" dirty="0"/>
                  <a:t>2- Compute the </a:t>
                </a:r>
                <a:r>
                  <a:rPr lang="en-US" b="1" noProof="0" dirty="0">
                    <a:solidFill>
                      <a:schemeClr val="accent1"/>
                    </a:solidFill>
                  </a:rPr>
                  <a:t>Within-Cluster Sum of Squares (WCSS)</a:t>
                </a:r>
                <a:r>
                  <a:rPr lang="en-US" noProof="0" dirty="0"/>
                  <a:t>, also called </a:t>
                </a:r>
                <a:r>
                  <a:rPr lang="en-US" b="1" noProof="0" dirty="0">
                    <a:solidFill>
                      <a:schemeClr val="accent1"/>
                    </a:solidFill>
                  </a:rPr>
                  <a:t>inertia</a:t>
                </a:r>
                <a:r>
                  <a:rPr lang="en-US" noProof="0" dirty="0"/>
                  <a:t>:</a:t>
                </a:r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r>
                  <a:rPr lang="en-US" noProof="0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noProof="0" smtClean="0"/>
                        </m:ctrlPr>
                      </m:sSubPr>
                      <m:e>
                        <m:r>
                          <a:rPr lang="en-US" i="1" noProof="0" smtClean="0"/>
                          <m:t>𝑥</m:t>
                        </m:r>
                      </m:e>
                      <m:sub>
                        <m:r>
                          <a:rPr lang="en-US" i="1" noProof="0" smtClean="0"/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= data points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noProof="0" smtClean="0"/>
                        </m:ctrlPr>
                      </m:sSubPr>
                      <m:e>
                        <m:r>
                          <a:rPr lang="en-US" i="1" noProof="0" smtClean="0"/>
                          <m:t>𝜇</m:t>
                        </m:r>
                      </m:e>
                      <m:sub>
                        <m:r>
                          <a:rPr lang="en-US" i="1" noProof="0" smtClean="0"/>
                          <m:t>𝑗</m:t>
                        </m:r>
                      </m:sub>
                    </m:sSub>
                  </m:oMath>
                </a14:m>
                <a:r>
                  <a:rPr lang="en-US" noProof="0" dirty="0"/>
                  <a:t>= centroid of cluster </a:t>
                </a:r>
                <a14:m>
                  <m:oMath xmlns:m="http://schemas.openxmlformats.org/officeDocument/2006/math">
                    <m:r>
                      <a:rPr lang="en-US" i="1" noProof="0" smtClean="0"/>
                      <m:t>𝑗</m:t>
                    </m:r>
                  </m:oMath>
                </a14:m>
                <a:endParaRPr lang="en-US" noProof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noProof="0" smtClean="0"/>
                        </m:ctrlPr>
                      </m:sSubPr>
                      <m:e>
                        <m:r>
                          <a:rPr lang="en-US" i="1" noProof="0" smtClean="0"/>
                          <m:t>𝐶</m:t>
                        </m:r>
                      </m:e>
                      <m:sub>
                        <m:r>
                          <a:rPr lang="en-US" i="1" noProof="0" smtClean="0"/>
                          <m:t>𝑗</m:t>
                        </m:r>
                      </m:sub>
                    </m:sSub>
                  </m:oMath>
                </a14:m>
                <a:r>
                  <a:rPr lang="en-US" noProof="0" dirty="0"/>
                  <a:t>= set of points in cluster </a:t>
                </a:r>
                <a14:m>
                  <m:oMath xmlns:m="http://schemas.openxmlformats.org/officeDocument/2006/math">
                    <m:r>
                      <a:rPr lang="en-US" i="1" noProof="0" smtClean="0"/>
                      <m:t>𝑗</m:t>
                    </m:r>
                  </m:oMath>
                </a14:m>
                <a:endParaRPr lang="en-US" noProof="0" dirty="0"/>
              </a:p>
              <a:p>
                <a:pPr marL="0" indent="0">
                  <a:buNone/>
                </a:pPr>
                <a:r>
                  <a:rPr lang="en-US" noProof="0" dirty="0"/>
                  <a:t>3- Plot K on the x-axis and </a:t>
                </a:r>
                <a:r>
                  <a:rPr lang="en-US" noProof="0" dirty="0">
                    <a:solidFill>
                      <a:schemeClr val="accent1"/>
                    </a:solidFill>
                  </a:rPr>
                  <a:t>WCSS (inertia) </a:t>
                </a:r>
                <a:r>
                  <a:rPr lang="en-US" noProof="0" dirty="0"/>
                  <a:t>on the y-axis.</a:t>
                </a:r>
              </a:p>
              <a:p>
                <a:pPr marL="0" indent="0">
                  <a:buNone/>
                </a:pPr>
                <a:r>
                  <a:rPr lang="en-US" noProof="0" dirty="0"/>
                  <a:t>4- Choose the </a:t>
                </a:r>
                <a:r>
                  <a:rPr lang="en-US" b="1" noProof="0" dirty="0"/>
                  <a:t>K</a:t>
                </a:r>
                <a:r>
                  <a:rPr lang="en-US" noProof="0" dirty="0"/>
                  <a:t> where the decrease in WCSS </a:t>
                </a:r>
                <a:r>
                  <a:rPr lang="en-US" b="1" noProof="0" dirty="0">
                    <a:solidFill>
                      <a:schemeClr val="accent1"/>
                    </a:solidFill>
                  </a:rPr>
                  <a:t>starts to level off</a:t>
                </a:r>
                <a:r>
                  <a:rPr lang="en-US" noProof="0" dirty="0">
                    <a:solidFill>
                      <a:schemeClr val="accent1"/>
                    </a:solidFill>
                  </a:rPr>
                  <a:t> </a:t>
                </a:r>
                <a:r>
                  <a:rPr lang="en-US" noProof="0" dirty="0"/>
                  <a:t>→ the </a:t>
                </a:r>
                <a:r>
                  <a:rPr lang="en-US" b="1" noProof="0" dirty="0">
                    <a:solidFill>
                      <a:schemeClr val="accent1"/>
                    </a:solidFill>
                  </a:rPr>
                  <a:t>“elbow point”</a:t>
                </a:r>
                <a:r>
                  <a:rPr lang="en-US" noProof="0" dirty="0">
                    <a:solidFill>
                      <a:schemeClr val="accent1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noProof="0" dirty="0"/>
              </a:p>
              <a:p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A12B96E-88C8-D1E3-6AFB-42CBDDF87B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15398"/>
                <a:ext cx="10515600" cy="5697396"/>
              </a:xfrm>
              <a:blipFill>
                <a:blip r:embed="rId2"/>
                <a:stretch>
                  <a:fillRect l="-1217" t="-2463" b="-10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468382E-03A8-FEDC-D535-871E46F69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796" y="2897800"/>
            <a:ext cx="4568313" cy="106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990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217D4-CFB2-4A09-C8B9-B32560611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Elbow Method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8B9091-5A3C-0CD1-458C-B1B50BA6EE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5085" y="1524684"/>
            <a:ext cx="610656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36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FECC0-692A-CDB5-1A4C-2A952872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Advantages and Limitations of 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7DEAC-E954-4FA4-7ACA-507E8CAAD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858"/>
            <a:ext cx="10515600" cy="46491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noProof="0" dirty="0">
                <a:solidFill>
                  <a:schemeClr val="accent6"/>
                </a:solidFill>
              </a:rPr>
              <a:t>Advantages</a:t>
            </a:r>
            <a:r>
              <a:rPr lang="en-US" b="1" noProof="0" dirty="0"/>
              <a:t>:</a:t>
            </a:r>
            <a:endParaRPr lang="en-US" noProof="0" dirty="0"/>
          </a:p>
          <a:p>
            <a:pPr lvl="1"/>
            <a:r>
              <a:rPr lang="en-US" sz="2800" noProof="0" dirty="0">
                <a:solidFill>
                  <a:schemeClr val="accent6"/>
                </a:solidFill>
              </a:rPr>
              <a:t>Simple and fast.</a:t>
            </a:r>
          </a:p>
          <a:p>
            <a:pPr lvl="1"/>
            <a:r>
              <a:rPr lang="en-US" sz="2800" noProof="0" dirty="0">
                <a:solidFill>
                  <a:schemeClr val="accent6"/>
                </a:solidFill>
              </a:rPr>
              <a:t>Works well with spherical clusters.</a:t>
            </a:r>
          </a:p>
          <a:p>
            <a:pPr lvl="1"/>
            <a:r>
              <a:rPr lang="en-US" sz="2800" noProof="0" dirty="0">
                <a:solidFill>
                  <a:schemeClr val="accent6"/>
                </a:solidFill>
              </a:rPr>
              <a:t>Easy to interpret.</a:t>
            </a:r>
          </a:p>
          <a:p>
            <a:pPr marL="0" indent="0">
              <a:buNone/>
            </a:pPr>
            <a:endParaRPr lang="en-US" b="1" noProof="0" dirty="0"/>
          </a:p>
          <a:p>
            <a:pPr marL="0" indent="0">
              <a:buNone/>
            </a:pPr>
            <a:r>
              <a:rPr lang="en-US" b="1" noProof="0" dirty="0">
                <a:solidFill>
                  <a:srgbClr val="FF0000"/>
                </a:solidFill>
              </a:rPr>
              <a:t>Limitations:</a:t>
            </a:r>
            <a:endParaRPr lang="en-US" noProof="0" dirty="0">
              <a:solidFill>
                <a:srgbClr val="FF0000"/>
              </a:solidFill>
            </a:endParaRPr>
          </a:p>
          <a:p>
            <a:pPr lvl="1"/>
            <a:r>
              <a:rPr lang="en-US" sz="2800" noProof="0" dirty="0">
                <a:solidFill>
                  <a:srgbClr val="FF0000"/>
                </a:solidFill>
              </a:rPr>
              <a:t>Must specify K.</a:t>
            </a:r>
          </a:p>
          <a:p>
            <a:pPr lvl="1"/>
            <a:r>
              <a:rPr lang="en-US" sz="2800" noProof="0" dirty="0">
                <a:solidFill>
                  <a:srgbClr val="FF0000"/>
                </a:solidFill>
              </a:rPr>
              <a:t>Sensitive to initialization.</a:t>
            </a:r>
          </a:p>
          <a:p>
            <a:pPr lvl="1"/>
            <a:r>
              <a:rPr lang="en-US" sz="2800" noProof="0" dirty="0">
                <a:solidFill>
                  <a:srgbClr val="FF0000"/>
                </a:solidFill>
              </a:rPr>
              <a:t>Works poorly with non-spherical or overlapping clusters.</a:t>
            </a:r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1693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851CC-40D9-A166-C06D-102C099A7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86480-93D4-C9EF-018B-FDF3DF1FB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K-Means = </a:t>
            </a:r>
            <a:r>
              <a:rPr lang="en-US" noProof="0" dirty="0">
                <a:solidFill>
                  <a:schemeClr val="accent1"/>
                </a:solidFill>
              </a:rPr>
              <a:t>simple and powerful unsupervised algorithm</a:t>
            </a:r>
            <a:r>
              <a:rPr lang="en-US" noProof="0" dirty="0"/>
              <a:t>.</a:t>
            </a:r>
          </a:p>
          <a:p>
            <a:endParaRPr lang="en-US" noProof="0" dirty="0"/>
          </a:p>
          <a:p>
            <a:r>
              <a:rPr lang="en-US" noProof="0" dirty="0"/>
              <a:t>Groups </a:t>
            </a:r>
            <a:r>
              <a:rPr lang="en-US" b="1" noProof="0" dirty="0">
                <a:solidFill>
                  <a:schemeClr val="accent1"/>
                </a:solidFill>
              </a:rPr>
              <a:t>similar</a:t>
            </a:r>
            <a:r>
              <a:rPr lang="en-US" noProof="0" dirty="0"/>
              <a:t> </a:t>
            </a:r>
            <a:r>
              <a:rPr lang="en-US" b="1" noProof="0" dirty="0">
                <a:solidFill>
                  <a:schemeClr val="accent1"/>
                </a:solidFill>
              </a:rPr>
              <a:t>observations</a:t>
            </a:r>
            <a:r>
              <a:rPr lang="en-US" noProof="0" dirty="0"/>
              <a:t> based on </a:t>
            </a:r>
            <a:r>
              <a:rPr lang="en-US" b="1" noProof="0" dirty="0">
                <a:solidFill>
                  <a:schemeClr val="accent1"/>
                </a:solidFill>
              </a:rPr>
              <a:t>distance</a:t>
            </a:r>
            <a:r>
              <a:rPr lang="en-US" noProof="0" dirty="0"/>
              <a:t>.</a:t>
            </a:r>
          </a:p>
          <a:p>
            <a:endParaRPr lang="en-US" noProof="0" dirty="0"/>
          </a:p>
          <a:p>
            <a:r>
              <a:rPr lang="en-US" b="1" noProof="0" dirty="0">
                <a:solidFill>
                  <a:schemeClr val="accent1"/>
                </a:solidFill>
              </a:rPr>
              <a:t>Optimal K</a:t>
            </a:r>
            <a:r>
              <a:rPr lang="en-US" noProof="0" dirty="0"/>
              <a:t> found using the </a:t>
            </a:r>
            <a:r>
              <a:rPr lang="en-US" b="1" noProof="0" dirty="0">
                <a:solidFill>
                  <a:schemeClr val="accent1"/>
                </a:solidFill>
              </a:rPr>
              <a:t>Elbow Method</a:t>
            </a:r>
            <a:r>
              <a:rPr lang="en-US" noProof="0" dirty="0"/>
              <a:t>.</a:t>
            </a:r>
          </a:p>
          <a:p>
            <a:endParaRPr lang="en-US" noProof="0" dirty="0"/>
          </a:p>
          <a:p>
            <a:r>
              <a:rPr lang="en-US" noProof="0" dirty="0"/>
              <a:t>Useful for </a:t>
            </a:r>
            <a:r>
              <a:rPr lang="en-US" b="1" noProof="0" dirty="0">
                <a:solidFill>
                  <a:schemeClr val="accent1"/>
                </a:solidFill>
              </a:rPr>
              <a:t>segmentation</a:t>
            </a:r>
            <a:r>
              <a:rPr lang="en-US" noProof="0" dirty="0"/>
              <a:t>, </a:t>
            </a:r>
            <a:r>
              <a:rPr lang="en-US" b="1" noProof="0" dirty="0">
                <a:solidFill>
                  <a:schemeClr val="accent1"/>
                </a:solidFill>
              </a:rPr>
              <a:t>recommendation</a:t>
            </a:r>
            <a:r>
              <a:rPr lang="en-US" noProof="0" dirty="0"/>
              <a:t>, and </a:t>
            </a:r>
            <a:r>
              <a:rPr lang="en-US" b="1" noProof="0" dirty="0">
                <a:solidFill>
                  <a:schemeClr val="accent1"/>
                </a:solidFill>
              </a:rPr>
              <a:t>discovery</a:t>
            </a:r>
            <a:r>
              <a:rPr lang="en-U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7413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768</Words>
  <Application>Microsoft Office PowerPoint</Application>
  <PresentationFormat>Widescreen</PresentationFormat>
  <Paragraphs>165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(Body)</vt:lpstr>
      <vt:lpstr>Calibri Light</vt:lpstr>
      <vt:lpstr>Wingdings</vt:lpstr>
      <vt:lpstr>Office Theme</vt:lpstr>
      <vt:lpstr>Clustering with K-means</vt:lpstr>
      <vt:lpstr>Outline</vt:lpstr>
      <vt:lpstr>Objectives</vt:lpstr>
      <vt:lpstr>Unsupervised Learning</vt:lpstr>
      <vt:lpstr>Unsupervised Learning</vt:lpstr>
      <vt:lpstr>What is clustering</vt:lpstr>
      <vt:lpstr>What is clustering</vt:lpstr>
      <vt:lpstr>Importance of clustering</vt:lpstr>
      <vt:lpstr>Recommendation systems</vt:lpstr>
      <vt:lpstr>What is K-Means ?</vt:lpstr>
      <vt:lpstr>What is K-Means ?</vt:lpstr>
      <vt:lpstr>Principles of K-Means</vt:lpstr>
      <vt:lpstr>Principles of K-Means</vt:lpstr>
      <vt:lpstr>Similarity between samples</vt:lpstr>
      <vt:lpstr>Distance Metrics</vt:lpstr>
      <vt:lpstr>Distance Metrics</vt:lpstr>
      <vt:lpstr>Distance Metrics</vt:lpstr>
      <vt:lpstr>Example</vt:lpstr>
      <vt:lpstr>Example</vt:lpstr>
      <vt:lpstr>Example</vt:lpstr>
      <vt:lpstr>Example</vt:lpstr>
      <vt:lpstr>Choosing the right number of clusters</vt:lpstr>
      <vt:lpstr>Elbow Method</vt:lpstr>
      <vt:lpstr>Elbow Method</vt:lpstr>
      <vt:lpstr>Elbow Method</vt:lpstr>
      <vt:lpstr>Advantages and Limitations of K-Means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Mehdi Nadjib bendaoud</dc:creator>
  <cp:lastModifiedBy>Mohamed Mehdi Nadjib bendaoud</cp:lastModifiedBy>
  <cp:revision>69</cp:revision>
  <dcterms:created xsi:type="dcterms:W3CDTF">2025-11-03T08:47:18Z</dcterms:created>
  <dcterms:modified xsi:type="dcterms:W3CDTF">2025-11-03T11:38:48Z</dcterms:modified>
</cp:coreProperties>
</file>